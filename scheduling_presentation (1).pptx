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000000"/>
                </a:solidFill>
                <a:latin typeface="Arial"/>
              </a:rPr>
              <a:t>Avg Workers per Machine I/P/12/3/10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Machine 0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SA</c:v>
                </c:pt>
                <c:pt idx="5">
                  <c:v>GA</c:v>
                </c:pt>
                <c:pt idx="6">
                  <c:v>MILP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3.34</c:v>
                </c:pt>
                <c:pt idx="1">
                  <c:v>2.78</c:v>
                </c:pt>
                <c:pt idx="2">
                  <c:v>3.12</c:v>
                </c:pt>
                <c:pt idx="3">
                  <c:v>2.95</c:v>
                </c:pt>
                <c:pt idx="4">
                  <c:v>3.1</c:v>
                </c:pt>
                <c:pt idx="5">
                  <c:v>3.05</c:v>
                </c:pt>
                <c:pt idx="6">
                  <c:v>3.12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84-4579-9EF4-5BA5C96124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Machine 1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SA</c:v>
                </c:pt>
                <c:pt idx="5">
                  <c:v>GA</c:v>
                </c:pt>
                <c:pt idx="6">
                  <c:v>MILP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3.21</c:v>
                </c:pt>
                <c:pt idx="1">
                  <c:v>3.1</c:v>
                </c:pt>
                <c:pt idx="2">
                  <c:v>3.14</c:v>
                </c:pt>
                <c:pt idx="3">
                  <c:v>3.1</c:v>
                </c:pt>
                <c:pt idx="4">
                  <c:v>3.05</c:v>
                </c:pt>
                <c:pt idx="5">
                  <c:v>3.02</c:v>
                </c:pt>
                <c:pt idx="6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84-4579-9EF4-5BA5C96124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Machine 2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H4</c:v>
                </c:pt>
                <c:pt idx="4">
                  <c:v>SA</c:v>
                </c:pt>
                <c:pt idx="5">
                  <c:v>GA</c:v>
                </c:pt>
                <c:pt idx="6">
                  <c:v>MILP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3.45</c:v>
                </c:pt>
                <c:pt idx="1">
                  <c:v>4.12</c:v>
                </c:pt>
                <c:pt idx="2">
                  <c:v>3.74</c:v>
                </c:pt>
                <c:pt idx="3">
                  <c:v>3.95</c:v>
                </c:pt>
                <c:pt idx="4">
                  <c:v>3.85</c:v>
                </c:pt>
                <c:pt idx="5">
                  <c:v>3.93</c:v>
                </c:pt>
                <c:pt idx="6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84-4579-9EF4-5BA5C9612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7FC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F4F7FC"/>
                </a:solidFill>
                <a:latin typeface="Arial"/>
              </a:rPr>
              <a:t>Win Rate (%)  I/P/6/3/10, 500 Instances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 vs H1</c:v>
                </c:pt>
                <c:pt idx="1">
                  <c:v>SA vs H2</c:v>
                </c:pt>
                <c:pt idx="2">
                  <c:v>SA vs H3</c:v>
                </c:pt>
                <c:pt idx="3">
                  <c:v>SA vs H4</c:v>
                </c:pt>
                <c:pt idx="4">
                  <c:v>H1 vs H2</c:v>
                </c:pt>
                <c:pt idx="5">
                  <c:v>GA vs SA</c:v>
                </c:pt>
                <c:pt idx="6">
                  <c:v>MILP vs SA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99</c:v>
                </c:pt>
                <c:pt idx="4">
                  <c:v>93</c:v>
                </c:pt>
                <c:pt idx="5">
                  <c:v>54</c:v>
                </c:pt>
                <c:pt idx="6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44-4E2D-88F0-04A79C573E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7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1A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05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166A-65E3-01CD-E8A0-D380BBE9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4562F-7513-00EC-EC72-CEA75D459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9DD24-159A-4191-A063-28A6676A4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BFF0-6C94-AEB8-F74D-8E48D046F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41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914400" cy="914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1031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08960" y="731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Identical Parallel-Machine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3108960" y="13258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 with Worker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108960" y="1920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 to Minimise Makespan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3108960" y="2487168"/>
            <a:ext cx="5486400" cy="2743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108960" y="25786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 Group Project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10896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Maitha Alawadhi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U25200153  ·  H1, H2, SA, MILP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03504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Aziz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U25105011  ·  H3, H4, GA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08960" y="4709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Mehdi Jemmali  ·  University of Sharjah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5544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P||Cmax-W: jobs, machines, workers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06040" cy="15544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Algorithms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H1-H4 · SA · GA · MILP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5544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instances · 3 gap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2926080"/>
            <a:ext cx="2606040" cy="15544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087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Cmax, gap tables, head-to-head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2926080"/>
            <a:ext cx="2606040" cy="15544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34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4340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We Solving?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77640" cy="393192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jobs must be assigned to m identical parallel machines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W workers must be distributed among machines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depends on worker count assigned to each machine: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3703320" cy="41148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p_i(u) = A_i  +  B_i / (E_i · u)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Cmax = max machine completion time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decision: job assignment AND worker allocation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NP-hard: exact methods infeasible at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Notation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1353312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353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jobs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828800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1865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machines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304288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3042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40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779776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Bi, Ei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816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parameters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255264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2552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on machine 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730752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730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3767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(objective)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4206240"/>
            <a:ext cx="914400" cy="34747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4206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(1/m)·Σ p_i(W)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7-Algorithm Portfolio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160520" cy="39776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 Heuristics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594360" cy="50292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LPT + RBR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31136"/>
            <a:ext cx="594360" cy="502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2311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61872" y="227685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+ RBR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594360" cy="50292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30449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LB-guided (↓) + MFR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767328"/>
            <a:ext cx="594360" cy="502920"/>
          </a:xfrm>
          <a:prstGeom prst="rect">
            <a:avLst/>
          </a:prstGeom>
          <a:solidFill>
            <a:srgbClr val="0F5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7673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38130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LB-guided (↑) + MFR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868680"/>
            <a:ext cx="4160520" cy="3977640"/>
          </a:xfrm>
          <a:prstGeom prst="rect">
            <a:avLst/>
          </a:prstGeom>
          <a:solidFill>
            <a:srgbClr val="0F4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Metaheuristics &amp; Exact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463040"/>
            <a:ext cx="594360" cy="5029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4630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96712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2231136"/>
            <a:ext cx="59436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22311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96712" y="227685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2999232"/>
            <a:ext cx="594360" cy="5029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29992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96712" y="30449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Optimal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algorithms share: same instance representation · compute_makespan() · lower_bound() · is_feasible()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HEURISTICS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 &amp; H2 Dispatching + RBR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321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Worker Allocation Rules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896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RBR: distribute workers proportional to machine load at 1 worker each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1152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MFR: iteratively assign next worker to the most-loaded machine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977640" cy="29260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977640" cy="3657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H1: LPT + RBR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sort jobs by p_i(1) DESCENDING (Longest Processing Time)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job to the least-loaded machine (list scheduling)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apply RBR on the resulting assignment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LPT provides (4/3 - 1/3m) approximation for classic P||Cmax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loading heavy jobs first, naturally balances machine loads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4114800" cy="29260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4114800" cy="3657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H2: SPT + RBR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sort jobs by p_i(1) ASCENDING (Shortest Processing Time)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list scheduling assignment as H1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apply RBR on the resulting assignment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is optimal for average flow time on one machine, but poor for makespan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jobs pile onto already-loaded machines → imbalance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contrast baseline to demonstrate dispatching rule effect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HEURISTICS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H3 &amp; H4 LB-Guided Scheduling + MFR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77640" cy="393192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solidFill>
            <a:srgbClr val="1A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H3 : LB-Guided Decreasing + MFR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703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lower bound LB = (1/m)·Σ p_i(W)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jobs DECREASING by p_i(1)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machines sequentially: add jobs as long as load ≤ LB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next machine when LB is reached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MFR for worker allocation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remaining jobs (RJ) by most-available-machine-first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0F5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H4 : LB-Guided Increasing + MFR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307592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H3 with one key difference: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jobs INCREASING by p_i(1) instead of decreasing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ordering with LB constraint, loads short jobs first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MFR for worker allocation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remaining RJ by most-available-machine-first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the weakest heuristic, SPT order + LB guide creates poor load balance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Simulated Annealing (SA)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846320" cy="39776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32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 Operators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353312"/>
            <a:ext cx="411480" cy="41148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3533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Job-Move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5819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job i to machine k_new → re-apply RBR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404872"/>
            <a:ext cx="411480" cy="41148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24048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Job-Swap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633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jobs i &amp; j on different machines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456432"/>
            <a:ext cx="411480" cy="41148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34564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Worker-Transfer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6850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1 worker from machine a to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Acceptance: P(accept) = 1 if Δ ≤ 0,  else exp(−Δ/T)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868680"/>
            <a:ext cx="3291840" cy="3977640"/>
          </a:xfrm>
          <a:prstGeom prst="rect">
            <a:avLst/>
          </a:prstGeom>
          <a:solidFill>
            <a:srgbClr val="102A5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23560" y="932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1353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3533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Auto-calibrated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= −mean(Δ)/ln(0.80)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18836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18836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066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cooling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24140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414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2944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iterations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3474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evals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4005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4005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solution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4187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&amp; EXACT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Algorithm &amp; MILP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77640" cy="397764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Algorithm (GA)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π (jobs) + worker vector 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1837944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810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1810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H1-seeded + random individuals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322576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951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2295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selection (size q)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2807208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7797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Crossover: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27797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for job permutation + 1-point for workers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3291840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264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Mutation: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3264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jobs or transfer one worker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Σ Wk = W and Wk ≥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4261104"/>
            <a:ext cx="292608" cy="2926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233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Replacement: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74520" y="4233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Elitist generational replacement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868680"/>
            <a:ext cx="4114800" cy="397764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MILP - Exact Formulation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0600" y="1325880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Linearize p_i(W_k) by discretizing worker levels: S = W-m+1 levels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Cmax (continuous) · y[k,s] binary · z[i,k,s] binary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constraint groups: job assignment, worker level, linking, budget, load bound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scipy.optimize.milp → HiGHS backend 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mip_rel_gap</a:t>
            </a: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1e-6, no time limit → proven optimality guaranteed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Family H: 169-313 variables, solves in 1-6s average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Gap 2 reference for all other algorithms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Benchmarking Framework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06040" cy="118872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per configuration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06040" cy="11887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914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H2 H3 H4 SA GA MILP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06040" cy="118872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914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0–499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6364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via numpy RNG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12848"/>
            <a:ext cx="3977640" cy="260604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3042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Configurations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2715768"/>
            <a:ext cx="3703320" cy="84124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I/P/6/3/10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081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 jobs  ·  m=3 machines  ·  W=10 workers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: exact solver applicable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721608"/>
            <a:ext cx="3703320" cy="84124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I/P/12/3/10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4087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 jobs  ·  m=3 machines  ·  W=10 workers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315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: challenges exact methods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212848"/>
            <a:ext cx="4114800" cy="260604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Gap Metrics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27157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27157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 err="1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Cmax</a:t>
            </a:r>
            <a:r>
              <a:rPr lang="en-US" sz="11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LB) / LB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9718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theoretical lower bound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520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3520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(Cmax − MILP) / MILP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776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proven optimum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3251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4325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(Cmax − Best) / Best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5811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best across all 7 algorithms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78680" y="4864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gaps are raw ratios (not ×100)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Results of Both Configurations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828800" cy="27432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I/P/6/3/10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20726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68680"/>
            <a:ext cx="1920240" cy="2743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868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I/P/12/3/10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207264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7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Green values = Gap 2 = 0 (matches proven optimum)  ·  Best Cmax highlighted in teal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HIGHLIGHTS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at a Glance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737360"/>
          </a:xfrm>
          <a:prstGeom prst="rect">
            <a:avLst/>
          </a:prstGeom>
          <a:solidFill>
            <a:srgbClr val="102A5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7315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matches MILP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 n=6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06040" cy="1737360"/>
          </a:xfrm>
          <a:prstGeom prst="rect">
            <a:avLst/>
          </a:prstGeom>
          <a:solidFill>
            <a:srgbClr val="102A5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06040" cy="73152"/>
          </a:xfrm>
          <a:prstGeom prst="rect">
            <a:avLst/>
          </a:prstGeom>
          <a:solidFill>
            <a:srgbClr val="14B8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8B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avg Gap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n=12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737360"/>
          </a:xfrm>
          <a:prstGeom prst="rect">
            <a:avLst/>
          </a:prstGeom>
          <a:solidFill>
            <a:srgbClr val="102A5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0604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37×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faster than MILP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(0.17s vs 5.55s)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06040" cy="1737360"/>
          </a:xfrm>
          <a:prstGeom prst="rect">
            <a:avLst/>
          </a:prstGeom>
          <a:solidFill>
            <a:srgbClr val="102A5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06040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beats H1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I/P/6/3/10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06040" cy="1737360"/>
          </a:xfrm>
          <a:prstGeom prst="rect">
            <a:avLst/>
          </a:prstGeom>
          <a:solidFill>
            <a:srgbClr val="102A5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06040" cy="7315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 &gt; H2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429000" y="39319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LPT beats SPT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93% matchups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06040" cy="1737360"/>
          </a:xfrm>
          <a:prstGeom prst="rect">
            <a:avLst/>
          </a:prstGeom>
          <a:solidFill>
            <a:srgbClr val="102A5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0604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3154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algs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263640" y="39319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benchmarked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instances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SA CONVERGENCE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9044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 Convergence on I/P/12/3/10 Seed=5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583680" y="868680"/>
            <a:ext cx="2194560" cy="393192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2084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2084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H1 starts at 204.34 (Gap 2 = 4.8%)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2084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Rapid drop in first 40 steps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208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Plateau ~iter 80-120 → local optimum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20840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Final jump to 196.08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2084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Gap 2 = 0.55% vs MILP optimum (195.98)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20840" y="3657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Staircase = SA escaping local optima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C5F3F2-88B1-0231-4010-102527840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7"/>
          <a:stretch>
            <a:fillRect/>
          </a:stretch>
        </p:blipFill>
        <p:spPr bwMode="auto">
          <a:xfrm>
            <a:off x="502920" y="1685925"/>
            <a:ext cx="59436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AAE8-F45A-F436-6F6C-65821BF5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9C8919-715C-D547-88AC-5C8FB50C4915}"/>
              </a:ext>
            </a:extLst>
          </p:cNvPr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B69885-63A6-B5D4-C80C-BBFD539FBD24}"/>
              </a:ext>
            </a:extLst>
          </p:cNvPr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GA CONVERGENCE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29E444-5934-3DA0-8F08-71280331512F}"/>
              </a:ext>
            </a:extLst>
          </p:cNvPr>
          <p:cNvSpPr/>
          <p:nvPr/>
        </p:nvSpPr>
        <p:spPr>
          <a:xfrm>
            <a:off x="411480" y="256032"/>
            <a:ext cx="9044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Convergence on I/P/12/3/10 Seed=5</a:t>
            </a:r>
            <a:endParaRPr lang="en-US" sz="3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DE27814-529C-F76B-7AB9-3389D53F42EF}"/>
              </a:ext>
            </a:extLst>
          </p:cNvPr>
          <p:cNvSpPr/>
          <p:nvPr/>
        </p:nvSpPr>
        <p:spPr>
          <a:xfrm>
            <a:off x="6583680" y="868680"/>
            <a:ext cx="2194560" cy="393192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r>
              <a:rPr lang="en-US" sz="1100" dirty="0"/>
              <a:t>Best </a:t>
            </a:r>
            <a:r>
              <a:rPr lang="en-US" sz="1100" dirty="0" err="1"/>
              <a:t>Cmax</a:t>
            </a:r>
            <a:r>
              <a:rPr lang="en-US" sz="1100" dirty="0"/>
              <a:t> = 196.2 found at generation 11 (LB = 195.0).</a:t>
            </a:r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r>
              <a:rPr lang="en-US" sz="1100" dirty="0"/>
              <a:t>No improvement after gen 11; stall at gen 61.</a:t>
            </a:r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r>
              <a:rPr lang="en-US" sz="1100" dirty="0"/>
              <a:t>Final gap: 0.62% above LB, beating H3 (215.4) &amp; H4 (259.6).</a:t>
            </a:r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r>
              <a:rPr lang="en-US" sz="1100" dirty="0"/>
              <a:t>Rapid convergence vs. SA’s gradual steps.</a:t>
            </a:r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r>
              <a:rPr lang="en-US" sz="1100" dirty="0"/>
              <a:t>OX crossover on job permutations successfully escapes greedy construction limits.</a:t>
            </a:r>
          </a:p>
          <a:p>
            <a:pPr marL="171450" indent="-171450">
              <a:buSzPct val="50000"/>
              <a:buFont typeface="Arial" panose="020B0604020202020204" pitchFamily="34" charset="0"/>
              <a:buChar char="•"/>
            </a:pPr>
            <a:endParaRPr lang="en-US" sz="1100" dirty="0"/>
          </a:p>
          <a:p>
            <a:br>
              <a:rPr lang="en-US" sz="1100" dirty="0"/>
            </a:b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6EC896F-23C7-CCF8-7757-C2B35354B1E5}"/>
              </a:ext>
            </a:extLst>
          </p:cNvPr>
          <p:cNvSpPr/>
          <p:nvPr/>
        </p:nvSpPr>
        <p:spPr>
          <a:xfrm>
            <a:off x="672084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6820BE-347D-59AA-D12E-078B3893D3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8"/>
          <a:stretch>
            <a:fillRect/>
          </a:stretch>
        </p:blipFill>
        <p:spPr bwMode="auto">
          <a:xfrm>
            <a:off x="525779" y="1546860"/>
            <a:ext cx="5941159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77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WORKER ALLOCATION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Workers Are Distributed</a:t>
            </a:r>
            <a:endParaRPr lang="en-US" sz="3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426605292"/>
              </p:ext>
            </p:extLst>
          </p:nvPr>
        </p:nvGraphicFramePr>
        <p:xfrm>
          <a:off x="457200" y="86868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68680"/>
            <a:ext cx="2834640" cy="384048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389888"/>
            <a:ext cx="54864" cy="8229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99632" y="1389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H2 via RBR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99632" y="16642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Near-uniform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[3,3,4] most common (78%)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≈ 0.9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2487168"/>
            <a:ext cx="54864" cy="8229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99632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&amp; MILP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99632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: std ~2.7–3.2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Unconventional like [1,1,8]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Instance-specific optimisation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3584448"/>
            <a:ext cx="54864" cy="8229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99632" y="3584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99632" y="38587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RBR ignores worker sensitivity (Bi)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SA/MILP find targeted allocations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SA beats H1 by ~4%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HEAD-TO-HEAD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Pairwise Comparisons</a:t>
            </a:r>
            <a:endParaRPr lang="en-US" sz="3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318613085"/>
              </p:ext>
            </p:extLst>
          </p:nvPr>
        </p:nvGraphicFramePr>
        <p:xfrm>
          <a:off x="457200" y="86868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834640" cy="868680"/>
          </a:xfrm>
          <a:prstGeom prst="rect">
            <a:avLst/>
          </a:prstGeom>
          <a:solidFill>
            <a:srgbClr val="102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1005840"/>
            <a:ext cx="2834640" cy="64008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10972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04088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beats H1 on n=6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011680"/>
            <a:ext cx="2834640" cy="868680"/>
          </a:xfrm>
          <a:prstGeom prst="rect">
            <a:avLst/>
          </a:prstGeom>
          <a:solidFill>
            <a:srgbClr val="102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2011680"/>
            <a:ext cx="2834640" cy="64008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89320" y="21031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4088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beats H2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3017520"/>
            <a:ext cx="2834640" cy="868680"/>
          </a:xfrm>
          <a:prstGeom prst="rect">
            <a:avLst/>
          </a:prstGeom>
          <a:solidFill>
            <a:srgbClr val="102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3017520"/>
            <a:ext cx="2834640" cy="64008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108960"/>
            <a:ext cx="1181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98/500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23138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ties MILP on n=6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4023360"/>
            <a:ext cx="2834640" cy="868680"/>
          </a:xfrm>
          <a:prstGeom prst="rect">
            <a:avLst/>
          </a:prstGeom>
          <a:solidFill>
            <a:srgbClr val="102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943600" y="4023360"/>
            <a:ext cx="2834640" cy="64008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89320" y="4114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040880" y="4160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units MILP beats SA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n=12 Cmax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win = strictly lower Cmax. Ties counted separately.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Limitations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173736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640080" cy="17373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LPT &gt; SPT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356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consistently outperforms H2, H3, H4. Dispatching rule selection is the dominant factor in constructive heuristic quality.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114800" cy="173736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640080" cy="17373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 &amp; GA near-optimal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43560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matches MILP on 99.6% of small instances. GA achieves Gap 2 = 0 on large instances. Both far exceed constructive heuristics.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14800" cy="173736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640080" cy="17373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allocation critical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0156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RBR's proportional logic is suboptimal when job worker-sensitivity varies. SA/GA discover targeted allocations RBR cannot produce.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114800" cy="1737360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640080" cy="173736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017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LB is a weak metric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40156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values of 10% for MILP on n=6 are artefacts of the relaxation. Gap 2 (vs. MILP optimum) is the correct quality measure.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solidFill>
            <a:srgbClr val="FFE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727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Limitation: benchmark restricted to m=3, W=10, n∈{6,12}. Performance on larger instances unknown.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069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algorithms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27248" y="10698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on 1,000 instances with 3 gap metrics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18196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is the practical champion: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27248" y="18196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in real time, 37× faster than MILP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" y="2569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achieves Gap 2 = 0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27248" y="25694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large instances, strongest solution quality overall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6112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best constructive heuristic: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3319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LPT dispatching clearly outperforms SPT-based variants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validates everything: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27248" y="4069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optimality used as the Gap 2 reference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8229600" cy="2743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791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Maitha Alawadhi · Sana Aziz  |  Advanced Algorithms  |  University of Sharjah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1736</Words>
  <Application>Microsoft Office PowerPoint</Application>
  <PresentationFormat>On-screen Show (16:9)</PresentationFormat>
  <Paragraphs>406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Parallel-Machine Scheduling with Worker Assignment</dc:title>
  <dc:subject>PptxGenJS Presentation</dc:subject>
  <dc:creator>Maitha Alawadhi &amp; Sana Aziz</dc:creator>
  <cp:lastModifiedBy>sana aziz</cp:lastModifiedBy>
  <cp:revision>4</cp:revision>
  <dcterms:created xsi:type="dcterms:W3CDTF">2026-04-27T14:46:50Z</dcterms:created>
  <dcterms:modified xsi:type="dcterms:W3CDTF">2026-04-28T15:13:30Z</dcterms:modified>
</cp:coreProperties>
</file>